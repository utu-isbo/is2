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nivel2-intermedio.pptx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274320"/>
            <a:ext cx="4206240" cy="630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0" b="1" dirty="0">
                <a:solidFill>
                  <a:srgbClr val="16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0" dirty="0"/>
          </a:p>
        </p:txBody>
      </p:sp>
      <p:sp>
        <p:nvSpPr>
          <p:cNvPr id="3" name="Shape 1"/>
          <p:cNvSpPr/>
          <p:nvPr/>
        </p:nvSpPr>
        <p:spPr>
          <a:xfrm>
            <a:off x="640080" y="233172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8250D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333756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Avanzado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Pull Requests y CI/CD a fondo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5120640"/>
            <a:ext cx="1901952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12064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88336" y="512064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8336" y="51206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07408" y="512064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5120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14032" y="5120640"/>
            <a:ext cx="1984248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14032" y="5120640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44584" y="5120640"/>
            <a:ext cx="1655064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44584" y="5120640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3 — Avanzado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Temario de este nivel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especial en GitHub Projects y en la gestión de Pull Requests a nivel de equipo grande.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025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8250D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83794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77840" y="1837944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Monorepo, gobierno y CODEOWNERS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9864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8250D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734056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77840" y="2734056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Trunk-based, releases y versionado semántico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947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8250D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363016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77840" y="3630168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personalizados, vistas y automatización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471416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69087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8250D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52628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4526280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merge, CODEOWNERS y auto-merge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367528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58698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8250D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586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542239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77840" y="5422392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CI/CD y Environments con approvals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3 — Avanzado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1 de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Monorepo vs multirepo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5120640" cy="3017520"/>
          </a:xfrm>
          <a:prstGeom prst="roundRect">
            <a:avLst>
              <a:gd name="adj" fmla="val 4242"/>
            </a:avLst>
          </a:prstGeom>
          <a:solidFill>
            <a:srgbClr val="24292F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0116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Monorepo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265176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proyectos en un solo repositorio. Simplifica dependencias compartidas y refactors grandes, pero pide tooling especializado.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0" y="1691640"/>
            <a:ext cx="5120640" cy="3017520"/>
          </a:xfrm>
          <a:prstGeom prst="roundRect">
            <a:avLst>
              <a:gd name="adj" fmla="val 4242"/>
            </a:avLst>
          </a:prstGeom>
          <a:solidFill>
            <a:srgbClr val="8250DF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20116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Multirepo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65176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en su propio repositorio. Da autonomía por equipo, pero los cambios cruzados requieren coordinar varios repos.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983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a nivel organización: reglas de seguridad, plantillas y políticas de branch protection aplicadas a todos los repos por igual.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3 — Avanzado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1 de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Revisión obligatoria con CODEOWNERS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10515600" cy="2267712"/>
          </a:xfrm>
          <a:prstGeom prst="roundRect">
            <a:avLst>
              <a:gd name="adj" fmla="val 36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417320"/>
            <a:ext cx="10515600" cy="329184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527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1527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81328" y="152704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14173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.github/CODEOWNERS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" y="18928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Dueños por defecto de todo el repositorio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3000" y="216712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          @org/core-team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4414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Dueños específicos del backend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3000" y="27157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             @org/backend-team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99008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Dueños específicos de infraestructura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3000" y="32644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/infra/           @org/devops-team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9593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Pull Request toca esos archivos, GitHub pide automáticamente la revisión del equipo dueño de esa carpeta.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3 — Avanzado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2 de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Trunk-based y release branches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9692640" cy="0"/>
          </a:xfrm>
          <a:prstGeom prst="line">
            <a:avLst/>
          </a:prstGeom>
          <a:noFill/>
          <a:ln w="31750">
            <a:solidFill>
              <a:srgbClr val="2429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2660904"/>
            <a:ext cx="164592" cy="164592"/>
          </a:xfrm>
          <a:prstGeom prst="ellipse">
            <a:avLst/>
          </a:prstGeom>
          <a:solidFill>
            <a:srgbClr val="24292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95144" y="2660904"/>
            <a:ext cx="164592" cy="164592"/>
          </a:xfrm>
          <a:prstGeom prst="ellipse">
            <a:avLst/>
          </a:prstGeom>
          <a:solidFill>
            <a:srgbClr val="24292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58184" y="2660904"/>
            <a:ext cx="164592" cy="164592"/>
          </a:xfrm>
          <a:prstGeom prst="ellipse">
            <a:avLst/>
          </a:prstGeom>
          <a:solidFill>
            <a:srgbClr val="24292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21224" y="2660904"/>
            <a:ext cx="164592" cy="164592"/>
          </a:xfrm>
          <a:prstGeom prst="ellipse">
            <a:avLst/>
          </a:prstGeom>
          <a:solidFill>
            <a:srgbClr val="24292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84264" y="2660904"/>
            <a:ext cx="164592" cy="164592"/>
          </a:xfrm>
          <a:prstGeom prst="ellipse">
            <a:avLst/>
          </a:prstGeom>
          <a:solidFill>
            <a:srgbClr val="24292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47304" y="2660904"/>
            <a:ext cx="164592" cy="164592"/>
          </a:xfrm>
          <a:prstGeom prst="ellipse">
            <a:avLst/>
          </a:prstGeom>
          <a:solidFill>
            <a:srgbClr val="24292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(trunk)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182880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chicos y frecuentes se integran directo a main varias veces al día — sin branches de larga duración.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2743200"/>
            <a:ext cx="0" cy="1188720"/>
          </a:xfrm>
          <a:prstGeom prst="line">
            <a:avLst/>
          </a:prstGeom>
          <a:noFill/>
          <a:ln w="27940">
            <a:solidFill>
              <a:srgbClr val="8250DF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766560" y="3931920"/>
            <a:ext cx="3200400" cy="0"/>
          </a:xfrm>
          <a:prstGeom prst="line">
            <a:avLst/>
          </a:prstGeom>
          <a:noFill/>
          <a:ln w="31750">
            <a:solidFill>
              <a:srgbClr val="8250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15784" y="3849624"/>
            <a:ext cx="164592" cy="164592"/>
          </a:xfrm>
          <a:prstGeom prst="ellipse">
            <a:avLst/>
          </a:prstGeom>
          <a:solidFill>
            <a:srgbClr val="8250D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21624" y="3849624"/>
            <a:ext cx="164592" cy="164592"/>
          </a:xfrm>
          <a:prstGeom prst="ellipse">
            <a:avLst/>
          </a:prstGeom>
          <a:solidFill>
            <a:srgbClr val="8250D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0" y="374904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8250DF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0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v1.2.0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release/1.2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4480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llegar a una versión estable se corta una release branch: solo recibe fixes puntuales hasta el tag final.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3 — Avanzado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2 de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Versionado y protección avanzada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5120640" cy="1993392"/>
          </a:xfrm>
          <a:prstGeom prst="roundRect">
            <a:avLst>
              <a:gd name="adj" fmla="val 4128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417320"/>
            <a:ext cx="5120640" cy="329184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527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1527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81328" y="152704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4173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" y="1892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Cortar la release branch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3000" y="2167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release/1.2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2441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Taggear la versión final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3000" y="2715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-a v1.2.0 -m "Release 1.2.0"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3000" y="2990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v1.2.0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655064"/>
            <a:ext cx="292608" cy="29260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655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14173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Requerir commits firmados (signed commits)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33172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569464"/>
            <a:ext cx="292608" cy="29260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569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23317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Requerir historial lineal (sin merge commits)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324612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83864"/>
            <a:ext cx="292608" cy="29260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0" y="32461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Restringir quién puede pushear directo a main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368503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reglas se combinan con las del Nivel 2 (reviews y status checks) en repos con exigencias de seguridad más altas.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3 — Avanzado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3 de 5 · foco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Projects: campos personalizados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4292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77640" y="1463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15000" y="1463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52360" y="1463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8972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11064240" cy="566928"/>
          </a:xfrm>
          <a:prstGeom prst="roundRect">
            <a:avLst/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9202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auth a OAuth2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31920" y="204825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9A6700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204825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15000" y="19202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52360" y="19202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89720" y="19202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487168"/>
            <a:ext cx="1106424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4871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Rediseñar dashboard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31920" y="261518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57606A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0" y="261518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15000" y="24871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52360" y="24871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89720" y="24871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054096"/>
            <a:ext cx="11064240" cy="566928"/>
          </a:xfrm>
          <a:prstGeom prst="roundRect">
            <a:avLst/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05409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en export CSV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931920" y="318211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8250DF"/>
          </a:solidFill>
          <a:ln/>
        </p:spPr>
      </p:sp>
      <p:sp>
        <p:nvSpPr>
          <p:cNvPr id="29" name="Text 27"/>
          <p:cNvSpPr/>
          <p:nvPr/>
        </p:nvSpPr>
        <p:spPr>
          <a:xfrm>
            <a:off x="3931920" y="318211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15000" y="305409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52360" y="305409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89720" y="30540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621024"/>
            <a:ext cx="11064240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362102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de API pública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931920" y="37490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/>
        </p:spPr>
      </p:sp>
      <p:sp>
        <p:nvSpPr>
          <p:cNvPr id="36" name="Text 34"/>
          <p:cNvSpPr/>
          <p:nvPr/>
        </p:nvSpPr>
        <p:spPr>
          <a:xfrm>
            <a:off x="3931920" y="37490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15000" y="362102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52360" y="362102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89720" y="362102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44622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 del tablero Kanban, Projects ofrece vista de tabla y campos propios (Status, Prioridad, Iteración, Estimate) para planificar sprints.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3 — Avanzado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3 de 5 · foco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 y vista Roadmap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6362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8250D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63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51790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asignado a alguien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577840" y="151790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In Progress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121408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22199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8250D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1762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abierto y linkeado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77840" y="217627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In Review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779776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28803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8250D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28346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mergeado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77840" y="283464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Done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438144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53872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8250D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34930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reabierto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577840" y="349300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Todo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Roadmap (por iteración)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480560"/>
            <a:ext cx="0" cy="137160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224528"/>
            <a:ext cx="2766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23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14700" y="4480560"/>
            <a:ext cx="0" cy="137160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4700" y="4224528"/>
            <a:ext cx="2766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24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4480560"/>
            <a:ext cx="0" cy="137160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4224528"/>
            <a:ext cx="2766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25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846820" y="4480560"/>
            <a:ext cx="0" cy="137160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46820" y="4224528"/>
            <a:ext cx="2766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26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4360" y="4572000"/>
            <a:ext cx="5440680" cy="329184"/>
          </a:xfrm>
          <a:prstGeom prst="roundRect">
            <a:avLst>
              <a:gd name="adj" fmla="val 16667"/>
            </a:avLst>
          </a:prstGeom>
          <a:solidFill>
            <a:srgbClr val="8250DF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572000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auth a OAuth2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60420" y="5010912"/>
            <a:ext cx="8206740" cy="329184"/>
          </a:xfrm>
          <a:prstGeom prst="roundRect">
            <a:avLst>
              <a:gd name="adj" fmla="val 16667"/>
            </a:avLst>
          </a:prstGeom>
          <a:solidFill>
            <a:srgbClr val="9A6700"/>
          </a:solidFill>
          <a:ln/>
        </p:spPr>
      </p:sp>
      <p:sp>
        <p:nvSpPr>
          <p:cNvPr id="38" name="Text 36"/>
          <p:cNvSpPr/>
          <p:nvPr/>
        </p:nvSpPr>
        <p:spPr>
          <a:xfrm>
            <a:off x="3451860" y="5010912"/>
            <a:ext cx="80238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Rediseñar dashboard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4360" y="5449824"/>
            <a:ext cx="2674620" cy="329184"/>
          </a:xfrm>
          <a:prstGeom prst="roundRect">
            <a:avLst>
              <a:gd name="adj" fmla="val 16667"/>
            </a:avLst>
          </a:prstGeom>
          <a:solidFill>
            <a:srgbClr val="1A7F37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5449824"/>
            <a:ext cx="2491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de API pública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3 — Avanzado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4 de 5 · foco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Estrategias de merge en un PR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635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37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commit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68680" y="2788920"/>
            <a:ext cx="2880360" cy="0"/>
          </a:xfrm>
          <a:prstGeom prst="line">
            <a:avLst/>
          </a:prstGeom>
          <a:noFill/>
          <a:ln w="22860">
            <a:solidFill>
              <a:srgbClr val="8B94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468880"/>
            <a:ext cx="0" cy="320040"/>
          </a:xfrm>
          <a:prstGeom prst="line">
            <a:avLst/>
          </a:prstGeom>
          <a:noFill/>
          <a:ln w="22860">
            <a:solidFill>
              <a:srgbClr val="8250DF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25880" y="2468880"/>
            <a:ext cx="914400" cy="0"/>
          </a:xfrm>
          <a:prstGeom prst="line">
            <a:avLst/>
          </a:prstGeom>
          <a:noFill/>
          <a:ln w="22860">
            <a:solidFill>
              <a:srgbClr val="8250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0280" y="2468880"/>
            <a:ext cx="0" cy="320040"/>
          </a:xfrm>
          <a:prstGeom prst="line">
            <a:avLst/>
          </a:prstGeom>
          <a:noFill/>
          <a:ln w="22860">
            <a:solidFill>
              <a:srgbClr val="8250D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83864" y="2706624"/>
            <a:ext cx="164592" cy="164592"/>
          </a:xfrm>
          <a:prstGeom prst="ellipse">
            <a:avLst/>
          </a:prstGeom>
          <a:solidFill>
            <a:srgbClr val="8250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2706624"/>
            <a:ext cx="164592" cy="164592"/>
          </a:xfrm>
          <a:prstGeom prst="ellipse">
            <a:avLst/>
          </a:prstGeom>
          <a:solidFill>
            <a:srgbClr val="2429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29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 todos los commits de la branch y agrega un commit de fusión.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25112" y="150876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63500" dist="25400" dir="540000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53712" y="1737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Squash &amp; merge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4645152" y="2788920"/>
            <a:ext cx="2880360" cy="0"/>
          </a:xfrm>
          <a:prstGeom prst="line">
            <a:avLst/>
          </a:prstGeom>
          <a:noFill/>
          <a:ln w="22860">
            <a:solidFill>
              <a:srgbClr val="8B94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67528" y="2688336"/>
            <a:ext cx="201168" cy="201168"/>
          </a:xfrm>
          <a:prstGeom prst="ellipse">
            <a:avLst/>
          </a:prstGeom>
          <a:solidFill>
            <a:srgbClr val="8250D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62856" y="2706624"/>
            <a:ext cx="164592" cy="164592"/>
          </a:xfrm>
          <a:prstGeom prst="ellipse">
            <a:avLst/>
          </a:prstGeom>
          <a:solidFill>
            <a:srgbClr val="2429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3429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todos los commits de la branch en uno solo sobre main.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01584" y="150876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63500" dist="25400" dir="54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30184" y="1737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Rebase &amp; merge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8421624" y="2788920"/>
            <a:ext cx="2880360" cy="0"/>
          </a:xfrm>
          <a:prstGeom prst="line">
            <a:avLst/>
          </a:prstGeom>
          <a:noFill/>
          <a:ln w="22860">
            <a:solidFill>
              <a:srgbClr val="8B94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05088" y="2706624"/>
            <a:ext cx="164592" cy="164592"/>
          </a:xfrm>
          <a:prstGeom prst="ellipse">
            <a:avLst/>
          </a:prstGeom>
          <a:solidFill>
            <a:srgbClr val="8250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62288" y="2706624"/>
            <a:ext cx="164592" cy="164592"/>
          </a:xfrm>
          <a:prstGeom prst="ellipse">
            <a:avLst/>
          </a:prstGeom>
          <a:solidFill>
            <a:srgbClr val="8250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19488" y="2706624"/>
            <a:ext cx="164592" cy="164592"/>
          </a:xfrm>
          <a:prstGeom prst="ellipse">
            <a:avLst/>
          </a:prstGeom>
          <a:solidFill>
            <a:srgbClr val="8250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9328" y="2706624"/>
            <a:ext cx="164592" cy="164592"/>
          </a:xfrm>
          <a:prstGeom prst="ellipse">
            <a:avLst/>
          </a:prstGeom>
          <a:solidFill>
            <a:srgbClr val="2429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0184" y="3429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Reaplica cada commit de la branch, uno por uno, al final de main.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deja elegir la estrategia por defecto del repo y también permite habilitar las tres para que cada PR use la que corresponda.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3 — Avanzado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4 de 5 · foco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PRs y auto-merge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097280" y="1463040"/>
            <a:ext cx="9966960" cy="4206240"/>
          </a:xfrm>
          <a:prstGeom prst="roundRect">
            <a:avLst>
              <a:gd name="adj" fmla="val 217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73736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6E7681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7373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17190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#57 · Refactor del módulo de pagos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Draft PR se abre temprano para compartir avances o pedir feedback, sin disparar todavía las revisiones obligatorias.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2834640"/>
            <a:ext cx="9418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926080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Revisores requeridos (CODEOWNERS)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554480" y="3218688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@org/backend-team asignado automáticamente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371600" y="3749040"/>
            <a:ext cx="9418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3840480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checks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554480" y="4133088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✓   tests ✓   lint ✓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371600" y="4663440"/>
            <a:ext cx="9418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4754880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554480" y="5047488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Activado — mergea solo cuando todo lo anterior esté en verde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3 — Avanzado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5 de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CI/CD completo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24292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28600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148840" y="2971800"/>
            <a:ext cx="292608" cy="0"/>
          </a:xfrm>
          <a:prstGeom prst="line">
            <a:avLst/>
          </a:prstGeom>
          <a:noFill/>
          <a:ln w="25400">
            <a:solidFill>
              <a:srgbClr val="24292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41448" y="228600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57606A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32888" y="228600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41648" y="2971800"/>
            <a:ext cx="292608" cy="0"/>
          </a:xfrm>
          <a:prstGeom prst="line">
            <a:avLst/>
          </a:prstGeom>
          <a:noFill/>
          <a:ln w="25400">
            <a:solidFill>
              <a:srgbClr val="24292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34256" y="228600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9A6700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25696" y="228600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34456" y="2971800"/>
            <a:ext cx="292608" cy="0"/>
          </a:xfrm>
          <a:prstGeom prst="line">
            <a:avLst/>
          </a:prstGeom>
          <a:noFill/>
          <a:ln w="25400">
            <a:solidFill>
              <a:srgbClr val="24292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27064" y="228600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8250D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18504" y="228600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27264" y="2971800"/>
            <a:ext cx="292608" cy="0"/>
          </a:xfrm>
          <a:prstGeom prst="line">
            <a:avLst/>
          </a:prstGeom>
          <a:noFill/>
          <a:ln w="25400">
            <a:solidFill>
              <a:srgbClr val="24292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19872" y="228600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CF222E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11312" y="228600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720072" y="2971800"/>
            <a:ext cx="292608" cy="0"/>
          </a:xfrm>
          <a:prstGeom prst="line">
            <a:avLst/>
          </a:prstGeom>
          <a:noFill/>
          <a:ln w="25400">
            <a:solidFill>
              <a:srgbClr val="24292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12680" y="228600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A7F37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104120" y="228600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4023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push a main dispara el pipeline. Si algún paso falla, el deploy se detiene ahí — y la aprobación manual actúa como el último gate antes de producción.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3 — Avanzado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5 de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de producción, en detalle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463040" y="1463040"/>
            <a:ext cx="9235440" cy="4297680"/>
          </a:xfrm>
          <a:prstGeom prst="roundRect">
            <a:avLst>
              <a:gd name="adj" fmla="val 2128"/>
            </a:avLst>
          </a:prstGeom>
          <a:solidFill>
            <a:srgbClr val="161B22"/>
          </a:solidFill>
          <a:ln/>
          <a:effectLst>
            <a:outerShdw sx="100000" sy="100000" kx="0" ky="0" algn="bl" rotWithShape="0" blurRad="635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37360" y="17373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F222E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37360" y="22860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Revisores requeridos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737360" y="2560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@ana-lead, @martin-ops (2 de 2 deben aprobar)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737360" y="31272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737360" y="34015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de espera antes de poder desplegar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737360" y="39684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branches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737360" y="424281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main, o tags con formato v*.*.*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737360" y="480974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del ambiente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37360" y="508406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DB_PASSWORD, API_KEY, STRIPE_SECRET (6 en total)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revisores + wait timer + branch policy combinados, un deploy a producción queda protegido por varias capas a la vez.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3 — Avanzado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778B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para la próxima diapositiva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Pages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Publicá sitios estáticos directo desde tu repositorio, sin servidor propio.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5021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directa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sitio servido desde la branch o carpeta /docs del repo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333756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35021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personalizado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55080" y="38404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usuario.github.io o tu propio dominio con HTTPS incluido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9651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 Actions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5303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sitios generados con Jekyll, Hugo o un build de React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480060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49651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55080" y="5303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proyectos, portfolios y landing pages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3 — Avanzado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del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Completaste los tres niveles del GitHub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01952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88336" y="228600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88336" y="22860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07408" y="228600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7408" y="2286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14032" y="2286000"/>
            <a:ext cx="1984248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14032" y="2286000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244584" y="2286000"/>
            <a:ext cx="1655064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44584" y="2286000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56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Volver</a:t>
            </a:r>
            <a:endParaRPr lang="en-US" sz="1100" dirty="0"/>
          </a:p>
        </p:txBody>
      </p:sp>
      <p:sp>
        <p:nvSpPr>
          <p:cNvPr id="16" name="Text 14">
            <a:hlinkClick r:id="rId1" tooltip="Abrir nivel2-intermedio.pptx"/>
          </p:cNvPr>
          <p:cNvSpPr/>
          <p:nvPr/>
        </p:nvSpPr>
        <p:spPr>
          <a:xfrm>
            <a:off x="868680" y="3749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Abrir nivel2-intermedio.pptx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Nivel 2: Intermedio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06240" y="329184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778BA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3456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4840" y="3749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archivos .pptx deben guardarse en la misma carpeta para que los enlaces funcionen.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3 — Avanzado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2026-08-10T20:21:02Z</dcterms:created>
  <dcterms:modified xsi:type="dcterms:W3CDTF">2026-08-10T20:21:02Z</dcterms:modified>
</cp:coreProperties>
</file>