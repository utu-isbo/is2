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nivel1-principiante.pptx" TargetMode="External"/><Relationship Id="rId2" Type="http://schemas.openxmlformats.org/officeDocument/2006/relationships/hyperlink" Target="nivel3-avanzado.pptx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274320"/>
            <a:ext cx="4206240" cy="6309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8000" b="1" dirty="0">
                <a:solidFill>
                  <a:srgbClr val="161B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737360" cy="502920"/>
          </a:xfrm>
          <a:prstGeom prst="roundRect">
            <a:avLst>
              <a:gd name="adj" fmla="val 50909"/>
            </a:avLst>
          </a:prstGeom>
          <a:solidFill>
            <a:srgbClr val="539B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3317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33756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Intermedio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539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de trabajo en equipo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512064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2064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52344" y="5120640"/>
            <a:ext cx="161848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52344" y="512064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35424" y="512064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51206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06056" y="5120640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06056" y="512064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Temario de este nivel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cuatro ejes, ahora con flujos de equipo: comandos, diagramas y mockups.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86968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2598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39BF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259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80160" y="188366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577840" y="188366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Forks, remotes y tags + comandos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1775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39B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775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93522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577840" y="293522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vs rebase, conflictos y branches protegidas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11064240" cy="886968"/>
          </a:xfrm>
          <a:prstGeom prst="roundRect">
            <a:avLst>
              <a:gd name="adj" fmla="val 8247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291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39BF5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291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98678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577840" y="398678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Plantillas de Issues, automatización y code review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83480"/>
            <a:ext cx="11064240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28066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539B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80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5038344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77840" y="5038344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Environments, secrets y despliegue con Actions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Forks y remotes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005840" y="19202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original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org/proyecto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49040" y="2606040"/>
            <a:ext cx="1280160" cy="0"/>
          </a:xfrm>
          <a:prstGeom prst="line">
            <a:avLst/>
          </a:prstGeom>
          <a:noFill/>
          <a:ln w="3175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374904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0" y="19202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539BF5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fork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vos/proyecto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0" y="2606040"/>
            <a:ext cx="1280160" cy="0"/>
          </a:xfrm>
          <a:prstGeom prst="line">
            <a:avLst/>
          </a:prstGeom>
          <a:noFill/>
          <a:ln w="31750">
            <a:solidFill>
              <a:srgbClr val="24292F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772400" y="2194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2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24292F"/>
          </a:solidFill>
          <a:ln/>
          <a:effectLst>
            <a:outerShdw sx="100000" sy="100000" kx="0" ky="0" algn="bl" rotWithShape="0" blurRad="63500" dist="25400" dir="54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35440" y="21762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 computadora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23544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 local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374904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749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</a:t>
            </a:r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tu fork en GitHub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3749040"/>
            <a:ext cx="4572000" cy="502920"/>
          </a:xfrm>
          <a:prstGeom prst="roundRect">
            <a:avLst>
              <a:gd name="adj" fmla="val 1818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37490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429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 </a:t>
            </a:r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repositorio original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4663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fork es tu copia del repo en GitHub. Con dos remotes — origin y upstream — podés mantener tu fork actualizado con el proyecto original.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1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Comandos: remotes y tags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515600" cy="3364992"/>
          </a:xfrm>
          <a:prstGeom prst="roundRect">
            <a:avLst>
              <a:gd name="adj" fmla="val 2446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1051560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371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470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Agregar el repo original como remote upstream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upstream https://github.com/org/proyecto.git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3957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Traer los cambios del proyecto original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upstream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29443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 todos los remotes configurados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" y="321868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-v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43000" y="349300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un tag anotado para marcar una versión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43000" y="376732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-a v1.0 -m "Primera versión estable"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3000" y="404164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el tag a GitHub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43000" y="4315968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v1.0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" y="491947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GitHub, los tags suelen usarse para crear Releases: versiones descargables del proyecto.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vs rebase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9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977640"/>
            <a:ext cx="3840480" cy="0"/>
          </a:xfrm>
          <a:prstGeom prst="line">
            <a:avLst/>
          </a:prstGeom>
          <a:noFill/>
          <a:ln w="27940">
            <a:solidFill>
              <a:srgbClr val="24292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3063240"/>
            <a:ext cx="0" cy="914400"/>
          </a:xfrm>
          <a:prstGeom prst="line">
            <a:avLst/>
          </a:prstGeom>
          <a:noFill/>
          <a:ln w="27940">
            <a:solidFill>
              <a:srgbClr val="539BF5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920240" y="3063240"/>
            <a:ext cx="2377440" cy="0"/>
          </a:xfrm>
          <a:prstGeom prst="line">
            <a:avLst/>
          </a:prstGeom>
          <a:noFill/>
          <a:ln w="27940">
            <a:solidFill>
              <a:srgbClr val="539B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3063240"/>
            <a:ext cx="0" cy="914400"/>
          </a:xfrm>
          <a:prstGeom prst="line">
            <a:avLst/>
          </a:prstGeom>
          <a:noFill/>
          <a:ln w="27940">
            <a:solidFill>
              <a:srgbClr val="539BF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32104" y="389534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37944" y="389534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389534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87952" y="3867912"/>
            <a:ext cx="219456" cy="219456"/>
          </a:xfrm>
          <a:prstGeom prst="ellipse">
            <a:avLst/>
          </a:prstGeom>
          <a:solidFill>
            <a:srgbClr val="539B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15184" y="2980944"/>
            <a:ext cx="164592" cy="164592"/>
          </a:xfrm>
          <a:prstGeom prst="ellipse">
            <a:avLst/>
          </a:prstGeom>
          <a:solidFill>
            <a:srgbClr val="539B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2424" y="2980944"/>
            <a:ext cx="164592" cy="164592"/>
          </a:xfrm>
          <a:prstGeom prst="ellipse">
            <a:avLst/>
          </a:prstGeom>
          <a:solidFill>
            <a:srgbClr val="539B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976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un commit de fusión (merge commit) que une ambos historiales tal cual pasaron.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554480"/>
            <a:ext cx="0" cy="301752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39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92240" y="3977640"/>
            <a:ext cx="4572000" cy="0"/>
          </a:xfrm>
          <a:prstGeom prst="line">
            <a:avLst/>
          </a:prstGeom>
          <a:noFill/>
          <a:ln w="27940">
            <a:solidFill>
              <a:srgbClr val="2429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9944" y="389534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15784" y="389534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21624" y="3895344"/>
            <a:ext cx="164592" cy="164592"/>
          </a:xfrm>
          <a:prstGeom prst="ellipse">
            <a:avLst/>
          </a:prstGeom>
          <a:solidFill>
            <a:srgbClr val="539B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44584" y="3895344"/>
            <a:ext cx="164592" cy="164592"/>
          </a:xfrm>
          <a:prstGeom prst="ellipse">
            <a:avLst/>
          </a:prstGeom>
          <a:solidFill>
            <a:srgbClr val="539BF5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67544" y="3895344"/>
            <a:ext cx="164592" cy="164592"/>
          </a:xfrm>
          <a:prstGeom prst="ellipse">
            <a:avLst/>
          </a:prstGeom>
          <a:solidFill>
            <a:srgbClr val="24292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4297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Reescribe los commits de tu branch encima de main: el historial queda en una sola línea recta.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Rebase y conflictos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5120640" cy="2542032"/>
          </a:xfrm>
          <a:prstGeom prst="roundRect">
            <a:avLst>
              <a:gd name="adj" fmla="val 3237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512064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371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4300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Traer main actualizado a tu branch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14300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main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Tras resolver un conflicto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43000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4300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--continue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4300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 algo sale mal, cancelar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3493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539B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buNone/>
            </a:pPr>
            <a:r>
              <a:rPr lang="en-US" sz="13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rebase --abort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17920" y="1371600"/>
            <a:ext cx="5120640" cy="1993392"/>
          </a:xfrm>
          <a:prstGeom prst="roundRect">
            <a:avLst>
              <a:gd name="adj" fmla="val 4128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371600"/>
            <a:ext cx="512064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63854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87628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0" y="1371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saludo.js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37960" y="1847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&lt;&lt;&lt;&lt;&lt;&lt;&lt; HEAD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720840" y="21214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saludo = "Hola equipo";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37960" y="2395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20840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saludo = "Hola a todos";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2944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&gt;&gt;&gt;&gt;&gt;&gt;&gt; nueva-funcion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423367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marca el conflicto directamente en el archivo. Hay que elegir (o combinar) el contenido, borrar las marcas y confirmar.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2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 protegidas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típicas para proteger main en Settings → Branches: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53412"/>
            <a:ext cx="310896" cy="310896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53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Requerir al menos 1 aprobación (Pull Request review) antes de mergear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113532"/>
            <a:ext cx="310896" cy="310896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135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Requerir que los status checks de CI pasen antes de mergear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073652"/>
            <a:ext cx="310896" cy="310896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0736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Requerir que la branch esté actualizada con main antes de mergear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33772"/>
            <a:ext cx="310896" cy="310896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337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48006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permitir force-push ni borrado de la branch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Plantillas de Issues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2194560" y="1325880"/>
            <a:ext cx="7772400" cy="4480560"/>
          </a:xfrm>
          <a:prstGeom prst="roundRect">
            <a:avLst>
              <a:gd name="adj" fmla="val 2041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0" y="13258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24292F"/>
          </a:solidFill>
          <a:ln/>
        </p:spPr>
      </p:sp>
      <p:sp>
        <p:nvSpPr>
          <p:cNvPr id="8" name="Text 6"/>
          <p:cNvSpPr/>
          <p:nvPr/>
        </p:nvSpPr>
        <p:spPr>
          <a:xfrm>
            <a:off x="2468880" y="13258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Issue · Reporte de bug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21031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239572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23957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Bug: el botón de login no responde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468880" y="30175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331012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33101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Explicá qué esperabas que pasara y qué pasó en su lugar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468880" y="393192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para reproducir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422452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6040" y="42245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Ir a ...   2. Hacer clic en ...   3. Ver el error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468880" y="48920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539B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16352" y="48463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revisado que no exista un Issue similar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plantillas (.github/ISSUE_TEMPLATE) estandarizan la información que pide cada tipo de Issue.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en Projects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011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57606A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377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#12 abierto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474720"/>
            <a:ext cx="777240" cy="0"/>
          </a:xfrm>
          <a:prstGeom prst="line">
            <a:avLst/>
          </a:prstGeom>
          <a:noFill/>
          <a:ln w="25400">
            <a:solidFill>
              <a:srgbClr val="539BF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26280" y="182880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011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23774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2377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#18 abierto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635240" y="3474720"/>
            <a:ext cx="777240" cy="0"/>
          </a:xfrm>
          <a:prstGeom prst="line">
            <a:avLst/>
          </a:prstGeom>
          <a:noFill/>
          <a:ln w="25400">
            <a:solidFill>
              <a:srgbClr val="539BF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1828800"/>
            <a:ext cx="3108960" cy="3291840"/>
          </a:xfrm>
          <a:prstGeom prst="roundRect">
            <a:avLst>
              <a:gd name="adj" fmla="val 2941"/>
            </a:avLst>
          </a:prstGeom>
          <a:solidFill>
            <a:srgbClr val="F6F8FA"/>
          </a:solidFill>
          <a:ln w="9525">
            <a:solidFill>
              <a:srgbClr val="D0D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0" y="201168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</p:sp>
      <p:sp>
        <p:nvSpPr>
          <p:cNvPr id="20" name="Text 18"/>
          <p:cNvSpPr/>
          <p:nvPr/>
        </p:nvSpPr>
        <p:spPr>
          <a:xfrm>
            <a:off x="8823960" y="19202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95360" y="2377440"/>
            <a:ext cx="274320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9525">
            <a:solidFill>
              <a:srgbClr val="D0D7D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732520" y="237744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#15 mergeado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5661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abierto →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52360" y="30175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mergeado →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workflows de automatización, mover una tarjeta pasa a ser automático según el estado del Issue o del Pull Request.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3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review en un Pull Request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1280160" y="1417320"/>
            <a:ext cx="9601200" cy="4206240"/>
          </a:xfrm>
          <a:prstGeom prst="roundRect">
            <a:avLst>
              <a:gd name="adj" fmla="val 2174"/>
            </a:avLst>
          </a:prstGeom>
          <a:solidFill>
            <a:srgbClr val="F6F8FA"/>
          </a:solidFill>
          <a:ln w="12700">
            <a:solidFill>
              <a:srgbClr val="D0D7D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164592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#42 · Agregar formulario de login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54480" y="2240280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48840" y="2313432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1A7F37"/>
          </a:solidFill>
          <a:ln/>
        </p:spPr>
      </p:sp>
      <p:sp>
        <p:nvSpPr>
          <p:cNvPr id="11" name="Text 9"/>
          <p:cNvSpPr/>
          <p:nvPr/>
        </p:nvSpPr>
        <p:spPr>
          <a:xfrm>
            <a:off x="2148840" y="231343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554480" y="2898648"/>
            <a:ext cx="457200" cy="457200"/>
          </a:xfrm>
          <a:prstGeom prst="ellipse">
            <a:avLst/>
          </a:prstGeom>
          <a:solidFill>
            <a:srgbClr val="24292F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48840" y="29718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/>
        </p:spPr>
      </p:sp>
      <p:sp>
        <p:nvSpPr>
          <p:cNvPr id="15" name="Text 13"/>
          <p:cNvSpPr/>
          <p:nvPr/>
        </p:nvSpPr>
        <p:spPr>
          <a:xfrm>
            <a:off x="2148840" y="297180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requested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554480" y="3694176"/>
            <a:ext cx="90525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831336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comentó:  </a:t>
            </a:r>
            <a:pPr algn="l" indent="0" marL="0">
              <a:buNone/>
            </a:pPr>
            <a:r>
              <a:rPr lang="en-US" sz="125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"Este bloque queda repetido en dos lugares, ¿lo llevamos a una función aparte antes de mergear?"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57607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merge queda bloqueado hasta resolver los comentarios y conseguir las aprobaciones requeridas por la branch protegida.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Environments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A44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Revisores requeridos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633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revisores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configurados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410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secrets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3931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deploy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41879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branch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2628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9A6700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26280" y="2377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Revisores requeridos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26280" y="2633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revisor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2628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configurados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410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secrets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3931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deploy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41879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develop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46720" y="155448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61B22"/>
          </a:solidFill>
          <a:ln/>
          <a:effectLst>
            <a:outerShdw sx="100000" sy="100000" kx="0" ky="0" algn="bl" rotWithShape="0" blurRad="63500" dist="25400" dir="54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75320" y="1828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CF222E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237744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Revisores requeridos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75320" y="263347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revisores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75320" y="315468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configurados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75320" y="341071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secrets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75320" y="39319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deploy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75320" y="4187952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branch: main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Environment puede exigir aprobación manual y tener sus propios secrets antes de permitir un deploy.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58368" cy="658368"/>
          </a:xfrm>
          <a:prstGeom prst="ellipse">
            <a:avLst/>
          </a:prstGeom>
          <a:solidFill>
            <a:srgbClr val="539BF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4 de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325880" y="71323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D11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Desplegar con GitHub Actions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22960" y="1371600"/>
            <a:ext cx="10515600" cy="3090672"/>
          </a:xfrm>
          <a:prstGeom prst="roundRect">
            <a:avLst>
              <a:gd name="adj" fmla="val 2663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371600"/>
            <a:ext cx="10515600" cy="329184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" y="148132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1243584" y="148132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481328" y="1481328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3716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deploy.yml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25880" y="184708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25880" y="212140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deploy: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39572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267004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 production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294436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25880" y="321868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49300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./deploy.sh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76732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env: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04164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API_KEY: ${{ secrets.API_KEY }}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6451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declarar environment: production, el job solo corre si se cumplen las reglas y aprobaciones de ese ambiente.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539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123444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Continuá con el Nivel 3: Avanzado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47672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1947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52344" y="2286000"/>
            <a:ext cx="1618488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52344" y="228600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35424" y="2286000"/>
            <a:ext cx="2606040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35424" y="228600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06056" y="2286000"/>
            <a:ext cx="1700784" cy="384048"/>
          </a:xfrm>
          <a:prstGeom prst="round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539B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06056" y="2286000"/>
            <a:ext cx="17007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2918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Volver</a:t>
            </a:r>
            <a:endParaRPr lang="en-US" sz="1100" dirty="0"/>
          </a:p>
        </p:txBody>
      </p:sp>
      <p:sp>
        <p:nvSpPr>
          <p:cNvPr id="14" name="Text 12">
            <a:hlinkClick r:id="rId1" tooltip="Abrir nivel1-principiante.pptx"/>
          </p:cNvPr>
          <p:cNvSpPr/>
          <p:nvPr/>
        </p:nvSpPr>
        <p:spPr>
          <a:xfrm>
            <a:off x="86868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Abrir nivel1-principiante.ppt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Nivel 1: Principiante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206240" y="3291840"/>
            <a:ext cx="3291840" cy="1280160"/>
          </a:xfrm>
          <a:prstGeom prst="roundRect">
            <a:avLst>
              <a:gd name="adj" fmla="val 8571"/>
            </a:avLst>
          </a:prstGeom>
          <a:solidFill>
            <a:srgbClr val="539BF5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34564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Seguir →</a:t>
            </a:r>
            <a:endParaRPr lang="en-US" sz="1100" dirty="0"/>
          </a:p>
        </p:txBody>
      </p:sp>
      <p:sp>
        <p:nvSpPr>
          <p:cNvPr id="17" name="Text 15">
            <a:hlinkClick r:id="rId2" tooltip="Abrir nivel3-avanzado.pptx"/>
          </p:cNvPr>
          <p:cNvSpPr/>
          <p:nvPr/>
        </p:nvSpPr>
        <p:spPr>
          <a:xfrm>
            <a:off x="443484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Abrir nivel3-avanzado.pptx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Nivel 3: Avanzado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archivos .pptx deben guardarse en la misma carpeta para que los enlaces funcionen.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Roadmap  ·  Nivel 2 — Intermedio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2026-08-10T20:15:17Z</dcterms:created>
  <dcterms:modified xsi:type="dcterms:W3CDTF">2026-08-10T20:15:17Z</dcterms:modified>
</cp:coreProperties>
</file>